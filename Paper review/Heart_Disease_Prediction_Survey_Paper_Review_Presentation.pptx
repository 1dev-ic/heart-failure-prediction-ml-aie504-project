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048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CEE74-2C04-47E4-BE59-4E62DFB9A71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8C06B-AF03-4C73-8A8E-5F36DB4C4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98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outreach.org/articles/leverhulme-trust-funding-future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32C13211-AF08-17A1-414D-A8B30DFDD04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E3FC83E-1F26-F5F7-CBE3-EE4B37054E63}"/>
              </a:ext>
            </a:extLst>
          </p:cNvPr>
          <p:cNvGrpSpPr/>
          <p:nvPr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4077C0-FF3E-29BC-8976-4695078C3DA6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" name="Picture 14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87A6E41B-FF08-C3E1-B74A-1396E2333B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B5C3041-8CA0-9892-0AA3-2E1A6A8D232F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C1C17F23-6D27-3DDD-AA3E-06AE1B3E7964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15B0579A-AFA0-15D2-FAFF-94FECB68DE12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3720CFFB-8F69-2260-777B-303CE986CABF}"/>
              </a:ext>
            </a:extLst>
          </p:cNvPr>
          <p:cNvSpPr/>
          <p:nvPr/>
        </p:nvSpPr>
        <p:spPr>
          <a:xfrm>
            <a:off x="1523999" y="1122364"/>
            <a:ext cx="9144001" cy="2387600"/>
          </a:xfrm>
          <a:prstGeom prst="round2Diag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D866F-4566-853C-15DF-F1D77AF47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5A87B-8EA8-2D36-BD44-4CCDAABA1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8DD0-F5A7-3775-7C93-ACC8D8BD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8545-EA9C-45C8-95EB-984DA91B4D6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93399-1E0E-BE16-8C89-81E4DB3C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E9DC5-FD92-3C5F-B5A4-9EB8B1DB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8183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79925-5D44-13FD-330C-538BD60D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AB746-08E4-F36A-8D8E-BEF56A5D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8A49-7106-4DDF-B989-0C5A76E110D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1F2E24-2ADB-0ED0-D02B-51E71ABB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CE164-A876-9504-BE5F-6C54DF18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23684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EFD2E436-921A-6D81-6CFC-61B5058E1E4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CAF7BE5-8FE9-B4D7-C6FE-0231D2BDE638}"/>
              </a:ext>
            </a:extLst>
          </p:cNvPr>
          <p:cNvSpPr/>
          <p:nvPr/>
        </p:nvSpPr>
        <p:spPr>
          <a:xfrm>
            <a:off x="831850" y="1682750"/>
            <a:ext cx="10515600" cy="2906713"/>
          </a:xfrm>
          <a:prstGeom prst="round2Diag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F95D8-432D-F3EE-C318-505D6348BF0F}"/>
              </a:ext>
            </a:extLst>
          </p:cNvPr>
          <p:cNvSpPr/>
          <p:nvPr/>
        </p:nvSpPr>
        <p:spPr>
          <a:xfrm>
            <a:off x="0" y="6045200"/>
            <a:ext cx="12192000" cy="676275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2526E0D6-31E3-7BBF-ED7B-4810FD6F5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3" y="6041878"/>
            <a:ext cx="2250438" cy="6954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3ABCAD-DEC4-D42C-CCC4-B76E1750BF48}"/>
              </a:ext>
            </a:extLst>
          </p:cNvPr>
          <p:cNvSpPr/>
          <p:nvPr/>
        </p:nvSpPr>
        <p:spPr>
          <a:xfrm>
            <a:off x="0" y="6721475"/>
            <a:ext cx="12192000" cy="152400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85B8B-23D9-B33C-3C1E-39D1B5DA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481AD-BC74-269E-6639-14DD805B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B3D2E-F997-F29B-D02A-9D0F1D2C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1E4BF-52EC-41C3-9AD5-11FFE867F47C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F3AA0-C023-65DB-F096-7E2DE30F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29DD4-61DA-AF3B-05EA-B66F994E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E72432-45B1-93A2-7742-4CA4818BBA32}"/>
              </a:ext>
            </a:extLst>
          </p:cNvPr>
          <p:cNvSpPr/>
          <p:nvPr/>
        </p:nvSpPr>
        <p:spPr>
          <a:xfrm>
            <a:off x="152400" y="6873875"/>
            <a:ext cx="12192000" cy="152400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34962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5F25-DB6D-A0E5-F7CD-E1E8CAE1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8773-C808-5A47-82E0-FE9E7DC32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74A42-1135-EC59-F380-65218D90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12471-6018-069A-BF39-E687B9DB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0141E-F326-406B-80C3-16089921A48E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507DB-0EC2-3D87-0DD1-8DA18218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62027-8E43-D60C-8B9B-A7BFE12C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265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9B3F448-4255-3293-D78F-58EE47E2D731}"/>
              </a:ext>
            </a:extLst>
          </p:cNvPr>
          <p:cNvSpPr/>
          <p:nvPr/>
        </p:nvSpPr>
        <p:spPr>
          <a:xfrm>
            <a:off x="836612" y="1690689"/>
            <a:ext cx="10515600" cy="814386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2C9BC-3FFE-928F-B2DF-9D26BCAC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61004-A72D-EBCF-1A53-BDDDC70CB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B64A5-37B8-5B40-F179-FE567324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BC8E7F-C146-8855-C97F-FB5103127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47C8D7-04A1-1D60-9E58-4ABE670C5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28C45-4754-743F-20C1-A4D1DA16E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F071-2F0F-4155-B1E4-A11202B4DC10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DFE02-4044-FEFC-B51B-E3CE9C6B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9E656-9CD2-7340-45D3-8707661A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9D1CED-6C69-119B-FA9C-6ACBB853792C}"/>
              </a:ext>
            </a:extLst>
          </p:cNvPr>
          <p:cNvSpPr/>
          <p:nvPr/>
        </p:nvSpPr>
        <p:spPr>
          <a:xfrm>
            <a:off x="0" y="6721475"/>
            <a:ext cx="12192000" cy="152400"/>
          </a:xfrm>
          <a:prstGeom prst="rect">
            <a:avLst/>
          </a:prstGeom>
          <a:solidFill>
            <a:srgbClr val="144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180403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4B75-610E-9EF2-2318-EEC632612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46BD7-261E-26C6-15A9-BC237913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C16B7-98E1-4D70-8FD3-A72CFE3F3E5D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A3804-A00C-31F0-4B5F-2FEBF95E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1FF99-4194-DE7D-2DF9-CA16FB55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75218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32203CF-11BF-FF2F-4413-37D67BCF1B7D}"/>
              </a:ext>
            </a:extLst>
          </p:cNvPr>
          <p:cNvGrpSpPr/>
          <p:nvPr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A1A3BF-650D-45CB-E4C3-3A34FCABBE59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Picture 10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F6C3176E-5F75-8AFA-57A5-D74F9BA308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20A2C3-B8D4-A94B-ABAD-45841AABD051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BDAED357-4B7A-D821-CCC6-341517B21223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8E282E90-88D6-DF9C-EAC9-891F32A3B971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644417-0990-8A5E-0CBD-5D846B4D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9133-1FCC-46BC-B773-B816013AE1A0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A1930-EF3D-45C7-8207-B52BBE62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A104D-2C8B-FE2A-45E1-619ACC61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67198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CEB370BD-BAF9-9584-22FA-F0D6AC843BC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498B017-1888-F14F-9B50-EDF46E8CE7E8}"/>
              </a:ext>
            </a:extLst>
          </p:cNvPr>
          <p:cNvGrpSpPr/>
          <p:nvPr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CAB60C-16D9-561D-1DBB-487E1F4169DC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8AD4D498-FA5B-2674-7241-5A1D3B6AF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9404AA-DC10-BA32-0396-D165B9125CB0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7358E522-8E39-92FE-FA5E-631F9BCF0D49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66796F44-5EBE-60E9-5A3D-8FD2CCD7113F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0C85D5-B57B-556C-E8B5-0FF66FDE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F948-815A-F74F-7507-3665AA89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98704-6527-203F-7AEE-C7214B252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7E526-85A5-6F4C-79F0-1588D7A0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B84B-5C7A-4272-94E2-7C51E5EE0DD7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CF49F-9FAD-CE7B-E67B-3C0D6C1F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5D606-3317-9DAA-84F0-FD3445D8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97013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9877C8FA-E26D-D7A4-301E-902DBABC4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EE890B8-9AD4-9782-7C00-B28D3348AE03}"/>
              </a:ext>
            </a:extLst>
          </p:cNvPr>
          <p:cNvGrpSpPr/>
          <p:nvPr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6A2A50-9AC9-46EC-67C3-0E384F6651C0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A21F2934-BDEF-E3FF-9102-D3B5C70651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F03607-CEA5-202C-B080-83CCBB81880F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DE1B7DCA-0DB1-5413-4E25-8E1AA61E6106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1A6824A8-B75C-BF3A-9757-0FEB46777F99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7A5187-8C32-ED97-ADDC-D72FA923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3454D-B4E7-9715-E3CC-72A91623F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3D32C-DDF3-D7C6-BA5E-AB5A6DE49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7C657-A101-131A-0095-18FB4CB1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04C8-3E16-4541-AA76-C2FFDF3FDE8D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B179E-4E44-7A60-4699-D18B4389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85CE2-1217-7776-69DC-578966C0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5437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9B73-E66B-FF4A-5491-C151AF9D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9328E-E19D-B9EF-5E71-D4CC3238C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797E-AA26-B775-2E7E-A2C2E7C1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AC7E-347D-4C68-B168-88A8ED63339C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15608-9AD9-84A7-A63D-8E3423A5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D42A7-4EE9-0B9B-1D9F-CEBE599D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74843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oup of people flying in the sky&#10;&#10;AI-generated content may be incorrect.">
            <a:extLst>
              <a:ext uri="{FF2B5EF4-FFF2-40B4-BE49-F238E27FC236}">
                <a16:creationId xmlns:a16="http://schemas.microsoft.com/office/drawing/2014/main" id="{4566847A-FAB6-8442-E2C4-AD2AF6E3657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3825935" y="-95692"/>
            <a:ext cx="21992243" cy="693449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BB389E3-3A5B-A195-6A78-3C1A49E31765}"/>
              </a:ext>
            </a:extLst>
          </p:cNvPr>
          <p:cNvGrpSpPr/>
          <p:nvPr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694187-3FA1-97A9-9ABA-8822959A6F7E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" name="Picture 12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65658F8B-F847-CBCC-3399-2F25A6BA46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22AB232-FAFB-046D-503E-F163B7397A5F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3F128016-0203-F54C-ED2D-D3E5ED8D2E68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24468F26-240F-61A0-200F-3E1F47901382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07A40-E17B-3CD5-F9DB-4A059AB80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718A7-C92F-0240-312D-7C8F78C1B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8E64A-1384-3BF3-8754-3BF80EFE2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FB09-1502-4662-B787-66669429D9E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939E-7AF4-3C40-2A04-BE76DC5D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83ED7-7CC3-54E8-A078-CD76AE40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9189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99AB-3992-84B9-4068-A7271AFA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06EE7-EE91-3FB8-073D-2597DAD57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D413-6BA2-9F69-2581-B957023C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1157-8644-4AD8-98AC-3C74BA93C39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D07C1-DC47-C549-AEC6-00FD92E2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89D11-60E9-4A94-4DBA-700EF6C0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90741"/>
      </p:ext>
    </p:extLst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0B974-4089-4226-8866-17C85A67D57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1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75E606A-EC33-31A2-319D-0FA627F044F2}"/>
              </a:ext>
            </a:extLst>
          </p:cNvPr>
          <p:cNvGrpSpPr/>
          <p:nvPr/>
        </p:nvGrpSpPr>
        <p:grpSpPr>
          <a:xfrm>
            <a:off x="333462" y="282332"/>
            <a:ext cx="11421658" cy="1408356"/>
            <a:chOff x="333462" y="282332"/>
            <a:chExt cx="11421658" cy="1408356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C8B3B5E4-3983-34DF-4899-EDA4B1665872}"/>
                </a:ext>
              </a:extLst>
            </p:cNvPr>
            <p:cNvSpPr/>
            <p:nvPr userDrawn="1"/>
          </p:nvSpPr>
          <p:spPr>
            <a:xfrm>
              <a:off x="345440" y="298213"/>
              <a:ext cx="11409680" cy="1392475"/>
            </a:xfrm>
            <a:prstGeom prst="round2DiagRect">
              <a:avLst/>
            </a:prstGeom>
            <a:solidFill>
              <a:srgbClr val="144B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3D1E5F-EB9C-11AF-2248-386912F2DA6A}"/>
                </a:ext>
              </a:extLst>
            </p:cNvPr>
            <p:cNvGrpSpPr/>
            <p:nvPr userDrawn="1"/>
          </p:nvGrpSpPr>
          <p:grpSpPr>
            <a:xfrm>
              <a:off x="333462" y="282332"/>
              <a:ext cx="7372304" cy="230715"/>
              <a:chOff x="4193627" y="6155280"/>
              <a:chExt cx="8272689" cy="702720"/>
            </a:xfrm>
            <a:solidFill>
              <a:srgbClr val="E1EBF5"/>
            </a:solidFill>
          </p:grpSpPr>
          <p:sp>
            <p:nvSpPr>
              <p:cNvPr id="22" name="Parallelogram 21">
                <a:extLst>
                  <a:ext uri="{FF2B5EF4-FFF2-40B4-BE49-F238E27FC236}">
                    <a16:creationId xmlns:a16="http://schemas.microsoft.com/office/drawing/2014/main" id="{4C09520F-8CD2-9C50-E42A-7803ED596F9D}"/>
                  </a:ext>
                </a:extLst>
              </p:cNvPr>
              <p:cNvSpPr/>
              <p:nvPr userDrawn="1"/>
            </p:nvSpPr>
            <p:spPr>
              <a:xfrm>
                <a:off x="4193627" y="6176815"/>
                <a:ext cx="8272689" cy="681185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Parallelogram 22">
                <a:extLst>
                  <a:ext uri="{FF2B5EF4-FFF2-40B4-BE49-F238E27FC236}">
                    <a16:creationId xmlns:a16="http://schemas.microsoft.com/office/drawing/2014/main" id="{9BA02415-D149-7982-3CE3-6F886598DBC0}"/>
                  </a:ext>
                </a:extLst>
              </p:cNvPr>
              <p:cNvSpPr/>
              <p:nvPr userDrawn="1"/>
            </p:nvSpPr>
            <p:spPr>
              <a:xfrm rot="449905">
                <a:off x="4270076" y="6155280"/>
                <a:ext cx="259221" cy="562753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D33305C-5C0E-BE12-2902-81C797D6B8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9511" y="404245"/>
              <a:ext cx="6855513" cy="0"/>
            </a:xfrm>
            <a:prstGeom prst="line">
              <a:avLst/>
            </a:prstGeom>
            <a:ln>
              <a:solidFill>
                <a:srgbClr val="144B8C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7" name="Picture 16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14606FA-00D1-A164-B031-0F538F906CE8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4187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54941-0B97-2A3B-DB46-9E6ABB0B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51DE0-5A2F-0A9D-EAAA-1DAB7C8F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00A14-4634-39C5-789E-B83B3F7C8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8D5A8-5D5C-4509-A7C8-2319DD41B00B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61AF-FFFC-F114-B3FA-469A62E9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Kristen ITC" panose="03050502040202030202" pitchFamily="66" charset="0"/>
              </a:defRPr>
            </a:lvl1pPr>
          </a:lstStyle>
          <a:p>
            <a:r>
              <a:rPr lang="en-US"/>
              <a:t>By MR. CHAHYAANDIDA ISHAYA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75ED8-89B9-97BF-9E33-6D3D6CDE8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174717-FE33-ACBC-A2F5-ACD841D83F03}"/>
              </a:ext>
            </a:extLst>
          </p:cNvPr>
          <p:cNvGrpSpPr/>
          <p:nvPr/>
        </p:nvGrpSpPr>
        <p:grpSpPr>
          <a:xfrm>
            <a:off x="0" y="6041878"/>
            <a:ext cx="12487860" cy="796921"/>
            <a:chOff x="0" y="6041878"/>
            <a:chExt cx="12487860" cy="79692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915442-1E6E-89F6-425D-208869B67C6A}"/>
                </a:ext>
              </a:extLst>
            </p:cNvPr>
            <p:cNvSpPr/>
            <p:nvPr userDrawn="1"/>
          </p:nvSpPr>
          <p:spPr>
            <a:xfrm>
              <a:off x="0" y="6045200"/>
              <a:ext cx="12192000" cy="676275"/>
            </a:xfrm>
            <a:prstGeom prst="rect">
              <a:avLst/>
            </a:prstGeom>
            <a:solidFill>
              <a:srgbClr val="E1EB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630399B4-0142-6072-DAB7-D611AD9C39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883" y="6041878"/>
              <a:ext cx="2250438" cy="695478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2DFDE7B-101C-0BD0-B49E-9B0DDA709BB0}"/>
                </a:ext>
              </a:extLst>
            </p:cNvPr>
            <p:cNvGrpSpPr/>
            <p:nvPr userDrawn="1"/>
          </p:nvGrpSpPr>
          <p:grpSpPr>
            <a:xfrm>
              <a:off x="4215171" y="6105427"/>
              <a:ext cx="8272689" cy="733372"/>
              <a:chOff x="4215171" y="6105427"/>
              <a:chExt cx="8272689" cy="733372"/>
            </a:xfrm>
          </p:grpSpPr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DFD6BCDC-223D-34C6-A8C3-F02FA57F96A4}"/>
                  </a:ext>
                </a:extLst>
              </p:cNvPr>
              <p:cNvSpPr/>
              <p:nvPr userDrawn="1"/>
            </p:nvSpPr>
            <p:spPr>
              <a:xfrm>
                <a:off x="4215171" y="6162523"/>
                <a:ext cx="8272689" cy="676276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Parallelogram 23">
                <a:extLst>
                  <a:ext uri="{FF2B5EF4-FFF2-40B4-BE49-F238E27FC236}">
                    <a16:creationId xmlns:a16="http://schemas.microsoft.com/office/drawing/2014/main" id="{43D50BC1-1740-916B-AD3A-1F88AB31C215}"/>
                  </a:ext>
                </a:extLst>
              </p:cNvPr>
              <p:cNvSpPr/>
              <p:nvPr userDrawn="1"/>
            </p:nvSpPr>
            <p:spPr>
              <a:xfrm>
                <a:off x="4266564" y="6105427"/>
                <a:ext cx="555302" cy="504263"/>
              </a:xfrm>
              <a:prstGeom prst="parallelogram">
                <a:avLst/>
              </a:prstGeom>
              <a:solidFill>
                <a:srgbClr val="144B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503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accent1"/>
                      </p:to>
                    </p:animClr>
                  </p:subTnLst>
                </p:cTn>
              </p:par>
            </p:tnLst>
          </p:tmpl>
        </p:tmplLst>
      </p:bldP>
    </p:bld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Heart Disease Prediction Using Machine Learning Techniques: A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Paper Review Presentation</a:t>
            </a:r>
          </a:p>
          <a:p>
            <a:r>
              <a:t>Reviewed by: Chahyaandida Ishaya</a:t>
            </a:r>
          </a:p>
          <a:p>
            <a:r>
              <a:t>Course: AIE504 – Machine Learning</a:t>
            </a:r>
          </a:p>
          <a:p>
            <a:r>
              <a:t>Istanbul Okan University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Review of the survey paper on ML techniques for heart disease prediction, focusing on objectives, surveyed algorithms, findings, strengths, weaknesses, and relevance to healthcare ML.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B41C4-16DB-10AC-D718-2385354A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CF4CC-0D6F-FA80-A99C-5AECECA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 literature survey of machine learning approaches applied to heart disease prediction, rather than an implementation study.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48673-D675-A128-F798-660575CC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54C11-1377-7CB7-B552-80E522BA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Authors &amp;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Authors: </a:t>
            </a:r>
            <a:r>
              <a:rPr dirty="0"/>
              <a:t>V. V. Ramalingam, </a:t>
            </a:r>
            <a:r>
              <a:rPr dirty="0" err="1"/>
              <a:t>Ayantan</a:t>
            </a:r>
            <a:r>
              <a:rPr dirty="0"/>
              <a:t> </a:t>
            </a:r>
            <a:r>
              <a:rPr dirty="0" err="1"/>
              <a:t>Dandapath</a:t>
            </a:r>
            <a:r>
              <a:rPr dirty="0"/>
              <a:t>, M. Karthik Raja</a:t>
            </a:r>
          </a:p>
          <a:p>
            <a:r>
              <a:rPr b="1" dirty="0"/>
              <a:t>Journal: </a:t>
            </a:r>
            <a:r>
              <a:rPr dirty="0"/>
              <a:t>International Journal of Engineering Technology (IJET)</a:t>
            </a:r>
          </a:p>
          <a:p>
            <a:r>
              <a:rPr b="1" dirty="0"/>
              <a:t>Year: </a:t>
            </a:r>
            <a:r>
              <a:rPr dirty="0"/>
              <a:t>2018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EFC9-64FA-C189-FA93-928F4E41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95722-C9EA-60B2-9812-FF51F121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 ML techniques used for heart disease prediction.</a:t>
            </a:r>
          </a:p>
          <a:p>
            <a:r>
              <a:t>Identify effective algorithms and dimensionality reduction methods.</a:t>
            </a:r>
          </a:p>
          <a:p>
            <a:r>
              <a:t>Highlight challenges such as overfitting and high dimensionality.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FBCC0-7394-56FE-CF11-8C20322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C32E0-C0E8-B4F6-0B9B-F18FAC72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Narrative survey study.</a:t>
            </a:r>
          </a:p>
          <a:p>
            <a:r>
              <a:t>Synthesizes results from existing research rather than training new models.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22550-A460-8C2A-F4A2-D2ED7D5A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028A6-A177-4778-FE4C-2FE8398C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Extraction (PCA).</a:t>
            </a:r>
          </a:p>
          <a:p>
            <a:r>
              <a:t>Feature Selection (Chi-square, correlation-based methods).</a:t>
            </a:r>
          </a:p>
          <a:p>
            <a:r>
              <a:t>Critical for reducing overfitting and improving accuracy.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71FDF-ACEB-DDCA-666F-2CEE7107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1778C-5557-3004-FB3D-A4EE673D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Probabilistic classifier assuming feature independence.</a:t>
            </a:r>
          </a:p>
          <a:p>
            <a:r>
              <a:t>Reported accuracy: Low–mid 80%.</a:t>
            </a:r>
          </a:p>
          <a:p>
            <a:r>
              <a:t>Efficient but less accurate than SVM or ensembles.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C1FF4-4489-725E-4D23-A006075A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DB65A-1399-0507-6BDF-12CBA088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Margin-based classifier.</a:t>
            </a:r>
          </a:p>
          <a:p>
            <a:r>
              <a:t>Reported accuracy: Mid 80% on UCI, up to ~98% on hospital datasets.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D3BB3-1C69-4F53-38D4-EF871C3E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6F70C-AEB7-E28B-55E6-86C587A7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K-Nearest Neighbour (KNN)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Instance-based classifier.</a:t>
            </a:r>
          </a:p>
          <a:p>
            <a:r>
              <a:t>Accuracy varies from ~70% to above 80% depending on parameters.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30DF9-62E6-F589-9085-D6B102AB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745AB-FE78-460C-19A3-62772BB3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DTs perform poorly due to overfitting.</a:t>
            </a:r>
          </a:p>
          <a:p>
            <a:r>
              <a:t>Enhanced versions with PCA/feature selection exceed 90% accuracy.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9539-11B6-73E1-FE54-ECA8411B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5AC79-A6A8-E088-F04F-A43AAFB0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of decision trees.</a:t>
            </a:r>
          </a:p>
          <a:p>
            <a:r>
              <a:t>Reported accuracy up to ~97%.</a:t>
            </a:r>
          </a:p>
          <a:p>
            <a:r>
              <a:t>More robust than single decision trees.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DC597-A5AE-797C-8481-D6888B27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E7BED-5EF4-E1DD-0D4E-764307DE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Combination of multiple classifiers.</a:t>
            </a:r>
          </a:p>
          <a:p>
            <a:r>
              <a:t>Voting or hybrid mechanisms.</a:t>
            </a:r>
          </a:p>
          <a:p>
            <a:r>
              <a:t>Achieve very high accuracy (94–98%).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EA31B-EBA2-5164-3973-0379A882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5DF12-973E-8DEE-2678-201BB85D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SVM, Random Forest, and ensembles perform best.</a:t>
            </a:r>
          </a:p>
          <a:p>
            <a:r>
              <a:t>Dimensionality reduction is essential.</a:t>
            </a:r>
          </a:p>
          <a:p>
            <a:r>
              <a:t>Overfitting remains a challenge.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31028-91E8-1BE8-03C2-59A781AC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B613A-3F97-EA30-202D-135DE3A6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Relevant topic.</a:t>
            </a:r>
          </a:p>
          <a:p>
            <a:r>
              <a:t>Comprehensive algorithm coverage.</a:t>
            </a:r>
          </a:p>
          <a:p>
            <a:r>
              <a:t>Strong focus on dimensionality reduction.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16B3F-3EBF-BC8C-F3F0-6320A579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CD809-2CFF-4666-E5BB-FCDE560A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systematic review methodology.</a:t>
            </a:r>
          </a:p>
          <a:p>
            <a:r>
              <a:t>Heterogeneous datasets and metrics.</a:t>
            </a:r>
          </a:p>
          <a:p>
            <a:r>
              <a:t>Limited clinical discussion.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07285-4CAD-D84E-FD08-EC3A02C4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6FC1F-7836-8B9B-7C93-7F677CC5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a structured overview of ML techniques.</a:t>
            </a:r>
          </a:p>
          <a:p>
            <a:r>
              <a:t>Guides students and researchers in algorithm selection.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6F6F9-308C-DC20-F3CE-F1B81028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92CFD-8A20-776D-B001-65361F7D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 systematic reviews.</a:t>
            </a:r>
          </a:p>
          <a:p>
            <a:r>
              <a:t>Standardize evaluation metrics.</a:t>
            </a:r>
          </a:p>
          <a:p>
            <a:r>
              <a:t>Explore deep learning and explainable AI.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F23BB-1196-B26E-EB1C-7AE66C6E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FFEA4-CF6C-B078-F8C0-22C5D6D6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Concise and informative survey.</a:t>
            </a:r>
          </a:p>
          <a:p>
            <a:r>
              <a:t>Useful for coursework and baseline research.</a:t>
            </a:r>
          </a:p>
          <a:p>
            <a:r>
              <a:t>Limited by lack of systematic rigor.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36F32-64FC-9A93-203E-0CD19927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MR. CHAHYAANDIDA ISHAYA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E197E-147C-C0E4-65F0-B8E4B76F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 Failure Prediction Using Machine Learning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eart Failure Prediction Using Machine Learning" id="{BC23168E-18CA-4AD5-A6F6-A32761DA2F68}" vid="{CBAB34FF-545F-4398-9C72-4584E092D0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Heart Failure Prediction Using Machine Learning</Template>
  <TotalTime>18</TotalTime>
  <Words>534</Words>
  <Application>Microsoft Office PowerPoint</Application>
  <PresentationFormat>Widescreen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Kristen ITC</vt:lpstr>
      <vt:lpstr>Segoe UI Black</vt:lpstr>
      <vt:lpstr>Heart Failure Prediction Using Machine Learning</vt:lpstr>
      <vt:lpstr>Heart Disease Prediction Using Machine Learning Techniques: A Survey</vt:lpstr>
      <vt:lpstr>Background &amp; Purpose</vt:lpstr>
      <vt:lpstr>Paper Overview</vt:lpstr>
      <vt:lpstr>Authors &amp; Publication</vt:lpstr>
      <vt:lpstr>Research Objectives</vt:lpstr>
      <vt:lpstr>Nature of the Study</vt:lpstr>
      <vt:lpstr>Dimensionality Reduction</vt:lpstr>
      <vt:lpstr>Naive Bayes</vt:lpstr>
      <vt:lpstr>Support Vector Machine (SVM)</vt:lpstr>
      <vt:lpstr>K-Nearest Neighbour (KNN)</vt:lpstr>
      <vt:lpstr>Decision Trees</vt:lpstr>
      <vt:lpstr>Random Forest</vt:lpstr>
      <vt:lpstr>Ensemble Models</vt:lpstr>
      <vt:lpstr>Key Findings</vt:lpstr>
      <vt:lpstr>Strengths</vt:lpstr>
      <vt:lpstr>Weaknesses</vt:lpstr>
      <vt:lpstr>Contribution &amp; Value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chahyaandida ishaya</cp:lastModifiedBy>
  <cp:revision>3</cp:revision>
  <dcterms:created xsi:type="dcterms:W3CDTF">2013-01-27T09:14:16Z</dcterms:created>
  <dcterms:modified xsi:type="dcterms:W3CDTF">2025-12-14T22:03:43Z</dcterms:modified>
  <cp:category/>
</cp:coreProperties>
</file>