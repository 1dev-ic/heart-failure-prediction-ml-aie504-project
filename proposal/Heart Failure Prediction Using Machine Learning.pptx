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3" r:id="rId7"/>
    <p:sldId id="273" r:id="rId8"/>
    <p:sldId id="264" r:id="rId9"/>
    <p:sldId id="275" r:id="rId10"/>
    <p:sldId id="265" r:id="rId11"/>
    <p:sldId id="274" r:id="rId12"/>
    <p:sldId id="276" r:id="rId13"/>
    <p:sldId id="277" r:id="rId14"/>
    <p:sldId id="278" r:id="rId15"/>
    <p:sldId id="266" r:id="rId16"/>
    <p:sldId id="267" r:id="rId17"/>
    <p:sldId id="279" r:id="rId18"/>
    <p:sldId id="268" r:id="rId19"/>
    <p:sldId id="269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B8C"/>
    <a:srgbClr val="E1EBF5"/>
    <a:srgbClr val="AEBDFC"/>
    <a:srgbClr val="CBC7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400" autoAdjust="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/>
    </p:cSldViewPr>
  </p:slideViewPr>
  <p:outlineViewPr>
    <p:cViewPr>
      <p:scale>
        <a:sx n="33" d="100"/>
        <a:sy n="33" d="100"/>
      </p:scale>
      <p:origin x="0" y="-833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D5B8D-4D26-4B44-BEFF-DFCA3D4E04BC}" type="datetimeFigureOut">
              <a:rPr lang="en-GB" smtClean="0"/>
              <a:t>14/12/2025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24CA7-206C-4907-8374-C4E64BC59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80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24CA7-206C-4907-8374-C4E64BC5999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05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32C13211-AF08-17A1-414D-A8B30DFDD0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E3FC83E-1F26-F5F7-CBE3-EE4B37054E63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4077C0-FF3E-29BC-8976-4695078C3DA6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Picture 14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7A6E41B-FF08-C3E1-B74A-1396E2333B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B5C3041-8CA0-9892-0AA3-2E1A6A8D232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C1C17F23-6D27-3DDD-AA3E-06AE1B3E7964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15B0579A-AFA0-15D2-FAFF-94FECB68DE12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3720CFFB-8F69-2260-777B-303CE986CABF}"/>
              </a:ext>
            </a:extLst>
          </p:cNvPr>
          <p:cNvSpPr/>
          <p:nvPr userDrawn="1"/>
        </p:nvSpPr>
        <p:spPr>
          <a:xfrm>
            <a:off x="1523999" y="1122364"/>
            <a:ext cx="9144001" cy="2387600"/>
          </a:xfrm>
          <a:prstGeom prst="round2Diag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D866F-4566-853C-15DF-F1D77AF47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5A87B-8EA8-2D36-BD44-4CCDAABA1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8DD0-F5A7-3775-7C93-ACC8D8BD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93399-1E0E-BE16-8C89-81E4DB3C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E9DC5-FD92-3C5F-B5A4-9EB8B1DB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520892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79925-5D44-13FD-330C-538BD60D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AB746-08E4-F36A-8D8E-BEF56A5D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F2E24-2ADB-0ED0-D02B-51E71ABB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CE164-A876-9504-BE5F-6C54DF18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065479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EFD2E436-921A-6D81-6CFC-61B5058E1E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CAF7BE5-8FE9-B4D7-C6FE-0231D2BDE638}"/>
              </a:ext>
            </a:extLst>
          </p:cNvPr>
          <p:cNvSpPr/>
          <p:nvPr userDrawn="1"/>
        </p:nvSpPr>
        <p:spPr>
          <a:xfrm>
            <a:off x="831850" y="1682750"/>
            <a:ext cx="10515600" cy="2906713"/>
          </a:xfrm>
          <a:prstGeom prst="round2Diag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F95D8-432D-F3EE-C318-505D6348BF0F}"/>
              </a:ext>
            </a:extLst>
          </p:cNvPr>
          <p:cNvSpPr/>
          <p:nvPr userDrawn="1"/>
        </p:nvSpPr>
        <p:spPr>
          <a:xfrm>
            <a:off x="0" y="6045200"/>
            <a:ext cx="12192000" cy="676275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2526E0D6-31E3-7BBF-ED7B-4810FD6F5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3" y="6041878"/>
            <a:ext cx="2250438" cy="6954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3ABCAD-DEC4-D42C-CCC4-B76E1750BF48}"/>
              </a:ext>
            </a:extLst>
          </p:cNvPr>
          <p:cNvSpPr/>
          <p:nvPr userDrawn="1"/>
        </p:nvSpPr>
        <p:spPr>
          <a:xfrm>
            <a:off x="0" y="67214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85B8B-23D9-B33C-3C1E-39D1B5DA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481AD-BC74-269E-6639-14DD805B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3D2E-F997-F29B-D02A-9D0F1D2C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F3AA0-C023-65DB-F096-7E2DE30F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29DD4-61DA-AF3B-05EA-B66F994E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E72432-45B1-93A2-7742-4CA4818BBA32}"/>
              </a:ext>
            </a:extLst>
          </p:cNvPr>
          <p:cNvSpPr/>
          <p:nvPr userDrawn="1"/>
        </p:nvSpPr>
        <p:spPr>
          <a:xfrm>
            <a:off x="152400" y="68738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07277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5F25-DB6D-A0E5-F7CD-E1E8CAE1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8773-C808-5A47-82E0-FE9E7DC32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74A42-1135-EC59-F380-65218D90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12471-6018-069A-BF39-E687B9DB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507DB-0EC2-3D87-0DD1-8DA18218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62027-8E43-D60C-8B9B-A7BFE12C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062034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B3F448-4255-3293-D78F-58EE47E2D731}"/>
              </a:ext>
            </a:extLst>
          </p:cNvPr>
          <p:cNvSpPr/>
          <p:nvPr userDrawn="1"/>
        </p:nvSpPr>
        <p:spPr>
          <a:xfrm>
            <a:off x="836612" y="1690689"/>
            <a:ext cx="10515600" cy="814386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2C9BC-3FFE-928F-B2DF-9D26BCAC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61004-A72D-EBCF-1A53-BDDDC70CB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B64A5-37B8-5B40-F179-FE567324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C8E7F-C146-8855-C97F-FB5103127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7C8D7-04A1-1D60-9E58-4ABE670C5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28C45-4754-743F-20C1-A4D1DA16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DFE02-4044-FEFC-B51B-E3CE9C6B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9E656-9CD2-7340-45D3-8707661A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D1CED-6C69-119B-FA9C-6ACBB853792C}"/>
              </a:ext>
            </a:extLst>
          </p:cNvPr>
          <p:cNvSpPr/>
          <p:nvPr userDrawn="1"/>
        </p:nvSpPr>
        <p:spPr>
          <a:xfrm>
            <a:off x="0" y="67214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487028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4B75-610E-9EF2-2318-EEC63261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46BD7-261E-26C6-15A9-BC237913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A3804-A00C-31F0-4B5F-2FEBF95E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1FF99-4194-DE7D-2DF9-CA16FB55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549184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32203CF-11BF-FF2F-4413-37D67BCF1B7D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A1A3BF-650D-45CB-E4C3-3A34FCABBE59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Picture 10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F6C3176E-5F75-8AFA-57A5-D74F9BA308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20A2C3-B8D4-A94B-ABAD-45841AABD051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BDAED357-4B7A-D821-CCC6-341517B21223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8E282E90-88D6-DF9C-EAC9-891F32A3B971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644417-0990-8A5E-0CBD-5D846B4D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A1930-EF3D-45C7-8207-B52BBE62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104D-2C8B-FE2A-45E1-619ACC61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532079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CEB370BD-BAF9-9584-22FA-F0D6AC843B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498B017-1888-F14F-9B50-EDF46E8CE7E8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CAB60C-16D9-561D-1DBB-487E1F4169DC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AD4D498-FA5B-2674-7241-5A1D3B6AF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9404AA-DC10-BA32-0396-D165B9125CB0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7358E522-8E39-92FE-FA5E-631F9BCF0D49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66796F44-5EBE-60E9-5A3D-8FD2CCD7113F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0C85D5-B57B-556C-E8B5-0FF66FDE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F948-815A-F74F-7507-3665AA89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98704-6527-203F-7AEE-C7214B252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7E526-85A5-6F4C-79F0-1588D7A0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CF49F-9FAD-CE7B-E67B-3C0D6C1F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5D606-3317-9DAA-84F0-FD3445D8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93338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9877C8FA-E26D-D7A4-301E-902DBABC45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E890B8-9AD4-9782-7C00-B28D3348AE03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6A2A50-9AC9-46EC-67C3-0E384F6651C0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A21F2934-BDEF-E3FF-9102-D3B5C7065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F03607-CEA5-202C-B080-83CCBB81880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DE1B7DCA-0DB1-5413-4E25-8E1AA61E6106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1A6824A8-B75C-BF3A-9757-0FEB46777F99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7A5187-8C32-ED97-ADDC-D72FA923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3454D-B4E7-9715-E3CC-72A91623F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3D32C-DDF3-D7C6-BA5E-AB5A6DE49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7C657-A101-131A-0095-18FB4CB1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B179E-4E44-7A60-4699-D18B4389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85CE2-1217-7776-69DC-578966C0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710604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9B73-E66B-FF4A-5491-C151AF9D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9328E-E19D-B9EF-5E71-D4CC3238C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797E-AA26-B775-2E7E-A2C2E7C1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15608-9AD9-84A7-A63D-8E3423A5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D42A7-4EE9-0B9B-1D9F-CEBE599D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30699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4566847A-FAB6-8442-E2C4-AD2AF6E36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BB389E3-3A5B-A195-6A78-3C1A49E31765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694187-3FA1-97A9-9ABA-8822959A6F7E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" name="Picture 12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5658F8B-F847-CBCC-3399-2F25A6BA46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22AB232-FAFB-046D-503E-F163B7397A5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3F128016-0203-F54C-ED2D-D3E5ED8D2E68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24468F26-240F-61A0-200F-3E1F47901382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07A40-E17B-3CD5-F9DB-4A059AB80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718A7-C92F-0240-312D-7C8F78C1B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8E64A-1384-3BF3-8754-3BF80EFE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939E-7AF4-3C40-2A04-BE76DC5D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3ED7-7CC3-54E8-A078-CD76AE40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404565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99AB-3992-84B9-4068-A7271AFA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6EE7-EE91-3FB8-073D-2597DAD57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D413-6BA2-9F69-2581-B957023C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D07C1-DC47-C549-AEC6-00FD92E2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89D11-60E9-4A94-4DBA-700EF6C0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62338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75E606A-EC33-31A2-319D-0FA627F044F2}"/>
              </a:ext>
            </a:extLst>
          </p:cNvPr>
          <p:cNvGrpSpPr/>
          <p:nvPr userDrawn="1"/>
        </p:nvGrpSpPr>
        <p:grpSpPr>
          <a:xfrm>
            <a:off x="333462" y="282332"/>
            <a:ext cx="11421658" cy="1408356"/>
            <a:chOff x="333462" y="282332"/>
            <a:chExt cx="11421658" cy="1408356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C8B3B5E4-3983-34DF-4899-EDA4B1665872}"/>
                </a:ext>
              </a:extLst>
            </p:cNvPr>
            <p:cNvSpPr/>
            <p:nvPr userDrawn="1"/>
          </p:nvSpPr>
          <p:spPr>
            <a:xfrm>
              <a:off x="345440" y="298213"/>
              <a:ext cx="11409680" cy="1392475"/>
            </a:xfrm>
            <a:prstGeom prst="round2DiagRect">
              <a:avLst/>
            </a:prstGeom>
            <a:solidFill>
              <a:srgbClr val="144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3D1E5F-EB9C-11AF-2248-386912F2DA6A}"/>
                </a:ext>
              </a:extLst>
            </p:cNvPr>
            <p:cNvGrpSpPr/>
            <p:nvPr userDrawn="1"/>
          </p:nvGrpSpPr>
          <p:grpSpPr>
            <a:xfrm>
              <a:off x="333462" y="282332"/>
              <a:ext cx="7372304" cy="230715"/>
              <a:chOff x="4193627" y="6155280"/>
              <a:chExt cx="8272689" cy="702720"/>
            </a:xfrm>
            <a:solidFill>
              <a:srgbClr val="E1EBF5"/>
            </a:solidFill>
          </p:grpSpPr>
          <p:sp>
            <p:nvSpPr>
              <p:cNvPr id="22" name="Parallelogram 21">
                <a:extLst>
                  <a:ext uri="{FF2B5EF4-FFF2-40B4-BE49-F238E27FC236}">
                    <a16:creationId xmlns:a16="http://schemas.microsoft.com/office/drawing/2014/main" id="{4C09520F-8CD2-9C50-E42A-7803ED596F9D}"/>
                  </a:ext>
                </a:extLst>
              </p:cNvPr>
              <p:cNvSpPr/>
              <p:nvPr userDrawn="1"/>
            </p:nvSpPr>
            <p:spPr>
              <a:xfrm>
                <a:off x="4193627" y="6176815"/>
                <a:ext cx="8272689" cy="681185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Parallelogram 22">
                <a:extLst>
                  <a:ext uri="{FF2B5EF4-FFF2-40B4-BE49-F238E27FC236}">
                    <a16:creationId xmlns:a16="http://schemas.microsoft.com/office/drawing/2014/main" id="{9BA02415-D149-7982-3CE3-6F886598DBC0}"/>
                  </a:ext>
                </a:extLst>
              </p:cNvPr>
              <p:cNvSpPr/>
              <p:nvPr userDrawn="1"/>
            </p:nvSpPr>
            <p:spPr>
              <a:xfrm rot="449905">
                <a:off x="4270076" y="6155280"/>
                <a:ext cx="259221" cy="562753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33305C-5C0E-BE12-2902-81C797D6B8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9511" y="404245"/>
              <a:ext cx="6855513" cy="0"/>
            </a:xfrm>
            <a:prstGeom prst="line">
              <a:avLst/>
            </a:prstGeom>
            <a:ln>
              <a:solidFill>
                <a:srgbClr val="144B8C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7" name="Picture 16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14606FA-00D1-A164-B031-0F538F906C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4187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54941-0B97-2A3B-DB46-9E6ABB0B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51DE0-5A2F-0A9D-EAAA-1DAB7C8F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00A14-4634-39C5-789E-B83B3F7C8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61AF-FFFC-F114-B3FA-469A62E9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Kristen ITC" panose="03050502040202030202" pitchFamily="66" charset="0"/>
              </a:defRPr>
            </a:lvl1pPr>
          </a:lstStyle>
          <a:p>
            <a:r>
              <a:rPr lang="en-GB" dirty="0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5ED8-89B9-97BF-9E33-6D3D6CDE8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8CECD93-A4B1-4FA8-A379-825ACA4C743A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174717-FE33-ACBC-A2F5-ACD841D83F03}"/>
              </a:ext>
            </a:extLst>
          </p:cNvPr>
          <p:cNvGrpSpPr/>
          <p:nvPr userDrawn="1"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915442-1E6E-89F6-425D-208869B67C6A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30399B4-0142-6072-DAB7-D611AD9C39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2DFDE7B-101C-0BD0-B49E-9B0DDA709BB0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DFD6BCDC-223D-34C6-A8C3-F02FA57F96A4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Parallelogram 23">
                <a:extLst>
                  <a:ext uri="{FF2B5EF4-FFF2-40B4-BE49-F238E27FC236}">
                    <a16:creationId xmlns:a16="http://schemas.microsoft.com/office/drawing/2014/main" id="{43D50BC1-1740-916B-AD3A-1F88AB31C215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236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52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</p:tmplLst>
      </p:bldP>
    </p:bld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1iEPNhyvz-H9O9GiJONRuYnvqIC4ry10?usp=sharing" TargetMode="External"/><Relationship Id="rId2" Type="http://schemas.openxmlformats.org/officeDocument/2006/relationships/hyperlink" Target="https://www.kaggle.com/datasets/rashadrmammadov/heart-disease-prediction/data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CEE1-A8AD-18E3-70E0-FE3169549D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Heart Failure Prediction Using Machine Learning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A1529-7249-7647-ED3F-488FB4A6B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AIE504 – Machine Learning Proposal</a:t>
            </a:r>
          </a:p>
          <a:p>
            <a:r>
              <a:rPr lang="en-US" dirty="0"/>
              <a:t>Presented by: </a:t>
            </a:r>
            <a:r>
              <a:rPr lang="en-US" b="1" dirty="0"/>
              <a:t>Chahyaandida Ishaya</a:t>
            </a:r>
          </a:p>
          <a:p>
            <a:r>
              <a:rPr lang="en-US" dirty="0"/>
              <a:t>Department: Computer Engineering</a:t>
            </a:r>
          </a:p>
          <a:p>
            <a:r>
              <a:rPr lang="en-US" dirty="0"/>
              <a:t>Supervisor: </a:t>
            </a:r>
            <a:r>
              <a:rPr lang="en-GB" b="1" dirty="0"/>
              <a:t>Assoc. Prof. Dr. Evrim Guler</a:t>
            </a:r>
            <a:endParaRPr lang="en-US" dirty="0"/>
          </a:p>
          <a:p>
            <a:r>
              <a:rPr lang="en-US" dirty="0"/>
              <a:t>Date: __/__/__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A6B09-011A-93ED-62D8-5CA94B0C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09919-DF5E-234F-4382-0130B37E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5045257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FBDB-705A-9D0C-9098-28C3CD24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Background /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79F92-E662-0BDF-B370-CECB9B6B0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Heart failure is a major global public health issue.</a:t>
            </a:r>
          </a:p>
          <a:p>
            <a:pPr marL="0" indent="0">
              <a:buNone/>
            </a:pPr>
            <a:r>
              <a:rPr lang="en-US" dirty="0"/>
              <a:t>• Early prediction can significantly reduce mortality.</a:t>
            </a:r>
          </a:p>
          <a:p>
            <a:pPr marL="0" indent="0">
              <a:buNone/>
            </a:pPr>
            <a:r>
              <a:rPr lang="en-US" dirty="0"/>
              <a:t>• Machine learning provides automated, accurate risk-prediction models.</a:t>
            </a:r>
          </a:p>
          <a:p>
            <a:pPr marL="0" indent="0">
              <a:buNone/>
            </a:pPr>
            <a:r>
              <a:rPr lang="en-US" dirty="0"/>
              <a:t>• This study uses clinical dataset variables to build predictive models.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B1B9A-BBCA-9696-51D5-F94017C4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1E65-1714-537E-6397-DADAB30E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913254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AAA5-99EE-D3D5-1BEA-2CA4D28C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0C168-EA2D-61A7-4D14-ED0E96A1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Heart failure causes over 26 million cases worldwide.</a:t>
            </a:r>
          </a:p>
          <a:p>
            <a:r>
              <a:rPr lang="en-US" dirty="0"/>
              <a:t> Traditional clinical assessment is often subjective.</a:t>
            </a:r>
          </a:p>
          <a:p>
            <a:pPr marL="0" indent="0">
              <a:buNone/>
            </a:pPr>
            <a:r>
              <a:rPr lang="en-US" dirty="0"/>
              <a:t>• Need a data-driven, reliable, early-warning prediction system.</a:t>
            </a:r>
          </a:p>
          <a:p>
            <a:pPr marL="0" indent="0">
              <a:buNone/>
            </a:pPr>
            <a:r>
              <a:rPr lang="en-US" dirty="0"/>
              <a:t>• How can machine learning improve predictive accuracy?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AF111-2A42-ABC1-4D73-B89C4500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C39AD-D7A9-2AD1-E9BB-591FE831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07662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AB07-43FE-20CD-A929-C39CBC24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Aim of the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3998C-5D27-914A-B060-A61D7D649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develop and evaluate machine learning models capable of predicting heart failure risk using patient clinical attributes.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724B0-DB51-1B0B-D416-894E8DAD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F2212-337E-5D86-2737-7AC7FE5A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78199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70BC-CCB5-1FB5-0B14-F45A5CAF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92F6-BDEB-60C6-DC81-BE091E695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• Load and preprocess heart failure dataset.</a:t>
            </a:r>
          </a:p>
          <a:p>
            <a:pPr marL="0" indent="0">
              <a:buNone/>
            </a:pPr>
            <a:r>
              <a:rPr lang="en-GB" dirty="0"/>
              <a:t>• Perform exploratory data analysis (EDA).</a:t>
            </a:r>
          </a:p>
          <a:p>
            <a:pPr marL="0" indent="0">
              <a:buNone/>
            </a:pPr>
            <a:r>
              <a:rPr lang="en-GB" dirty="0"/>
              <a:t>• Train and compare machine learning models:</a:t>
            </a:r>
          </a:p>
          <a:p>
            <a:pPr marL="0" indent="0">
              <a:buNone/>
            </a:pPr>
            <a:r>
              <a:rPr lang="en-GB" dirty="0"/>
              <a:t>     – Logistic Regression</a:t>
            </a:r>
          </a:p>
          <a:p>
            <a:pPr marL="0" indent="0">
              <a:buNone/>
            </a:pPr>
            <a:r>
              <a:rPr lang="en-GB" dirty="0"/>
              <a:t>     – Random Forest</a:t>
            </a:r>
          </a:p>
          <a:p>
            <a:pPr marL="0" indent="0">
              <a:buNone/>
            </a:pPr>
            <a:r>
              <a:rPr lang="en-GB" dirty="0"/>
              <a:t>     – Support Vector Machine (SVM)</a:t>
            </a:r>
          </a:p>
          <a:p>
            <a:pPr marL="0" indent="0">
              <a:buNone/>
            </a:pPr>
            <a:r>
              <a:rPr lang="en-GB" dirty="0"/>
              <a:t>     – </a:t>
            </a:r>
            <a:r>
              <a:rPr lang="en-GB" dirty="0" err="1"/>
              <a:t>XGBoost</a:t>
            </a:r>
            <a:r>
              <a:rPr lang="en-GB" dirty="0"/>
              <a:t> / Gradient Boosting</a:t>
            </a:r>
          </a:p>
          <a:p>
            <a:pPr marL="0" indent="0">
              <a:buNone/>
            </a:pPr>
            <a:r>
              <a:rPr lang="en-GB" dirty="0"/>
              <a:t>• Identify key predictive features.</a:t>
            </a:r>
          </a:p>
          <a:p>
            <a:pPr marL="0" indent="0">
              <a:buNone/>
            </a:pPr>
            <a:r>
              <a:rPr lang="en-GB" dirty="0"/>
              <a:t>• Evaluate model performance using standard metrics.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F0B7D-53D8-6548-BAEA-1A6A57DD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6C462-CF55-9284-7387-B52979D8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47395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62CD-BE24-4B2A-7E9B-1911786F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A779C-2C8E-B620-02A5-1CB3A1B9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Source: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Kaggle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Key Variables: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dirty="0">
                <a:hlinkClick r:id="rId3"/>
              </a:rPr>
              <a:t>dataset contains 11 clinical predictors</a:t>
            </a:r>
            <a:r>
              <a:rPr lang="en-GB" dirty="0"/>
              <a:t>—Age (years), Sex (M/F), </a:t>
            </a:r>
            <a:r>
              <a:rPr lang="en-GB" dirty="0" err="1"/>
              <a:t>ChestPainType</a:t>
            </a:r>
            <a:r>
              <a:rPr lang="en-GB" dirty="0"/>
              <a:t> (TA/ATA/NAP/ASY), </a:t>
            </a:r>
            <a:r>
              <a:rPr lang="en-GB" dirty="0" err="1"/>
              <a:t>RestingBP</a:t>
            </a:r>
            <a:r>
              <a:rPr lang="en-GB" dirty="0"/>
              <a:t> (mm Hg), Cholesterol (mg/dl), </a:t>
            </a:r>
            <a:r>
              <a:rPr lang="en-GB" dirty="0" err="1"/>
              <a:t>FastingBS</a:t>
            </a:r>
            <a:r>
              <a:rPr lang="en-GB" dirty="0"/>
              <a:t> (0/1), </a:t>
            </a:r>
            <a:r>
              <a:rPr lang="en-GB" dirty="0" err="1"/>
              <a:t>RestingECG</a:t>
            </a:r>
            <a:r>
              <a:rPr lang="en-GB" dirty="0"/>
              <a:t> (Normal/ST/LVH), </a:t>
            </a:r>
            <a:r>
              <a:rPr lang="en-GB" dirty="0" err="1"/>
              <a:t>MaxHR</a:t>
            </a:r>
            <a:r>
              <a:rPr lang="en-GB" dirty="0"/>
              <a:t> (bpm), </a:t>
            </a:r>
            <a:r>
              <a:rPr lang="en-GB" dirty="0" err="1"/>
              <a:t>ExerciseAngina</a:t>
            </a:r>
            <a:r>
              <a:rPr lang="en-GB" dirty="0"/>
              <a:t> (Y/N), </a:t>
            </a:r>
            <a:r>
              <a:rPr lang="en-GB" dirty="0" err="1"/>
              <a:t>Oldpeak</a:t>
            </a:r>
            <a:r>
              <a:rPr lang="en-GB" dirty="0"/>
              <a:t> (ST depression value), and </a:t>
            </a:r>
            <a:r>
              <a:rPr lang="en-GB" dirty="0" err="1"/>
              <a:t>ST_Slope</a:t>
            </a:r>
            <a:r>
              <a:rPr lang="en-GB" dirty="0"/>
              <a:t> (Up/Flat/Down)—used to classify the presence or absence of heart disease.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FD820-3C5E-45A2-D53C-0FCF38EF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8AD57-610D-E378-0F1B-174983B2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401120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6C32-4F8F-78EA-BA1B-D7FAC2A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DataSet</a:t>
            </a:r>
            <a:r>
              <a:rPr lang="en-US" dirty="0"/>
              <a:t> Loading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95F96-2395-92A8-CEB5-E981E8D1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F892B-5142-50A7-5EBC-77BF511C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02D49-89A5-AFB9-1B99-FE7E1D27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90" y="1703778"/>
            <a:ext cx="7915287" cy="412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0303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980E6E-87D1-81C0-1B4E-CBF8985D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099" y="1833909"/>
            <a:ext cx="4083260" cy="825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A7EAF0-72CB-CC88-8EDC-2FB21046D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29" y="3637733"/>
            <a:ext cx="6655142" cy="10160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2B0219-91D8-AB60-F121-A06CF8720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423" y="2596082"/>
            <a:ext cx="7753748" cy="1066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A195D5-6FFB-2670-A1BD-FBD69839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Methodology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76E4D-2230-02A8-588C-B8F12B6B8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b="1" dirty="0"/>
              <a:t>Data Preprocessing:</a:t>
            </a:r>
          </a:p>
          <a:p>
            <a:pPr marL="0" indent="0">
              <a:buNone/>
            </a:pPr>
            <a:r>
              <a:rPr lang="en-GB" dirty="0"/>
              <a:t>• Handling missing values</a:t>
            </a:r>
          </a:p>
          <a:p>
            <a:pPr marL="0" indent="0">
              <a:buNone/>
            </a:pPr>
            <a:r>
              <a:rPr lang="en-GB" dirty="0"/>
              <a:t>• Feature scaling</a:t>
            </a:r>
          </a:p>
          <a:p>
            <a:pPr marL="0" indent="0">
              <a:buNone/>
            </a:pPr>
            <a:r>
              <a:rPr lang="en-GB" dirty="0"/>
              <a:t>• Encoding categorical variables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Model Training:</a:t>
            </a:r>
          </a:p>
          <a:p>
            <a:pPr marL="0" indent="0">
              <a:buNone/>
            </a:pPr>
            <a:r>
              <a:rPr lang="en-GB" dirty="0"/>
              <a:t>• Split into training/testing sets</a:t>
            </a:r>
          </a:p>
          <a:p>
            <a:pPr marL="0" indent="0">
              <a:buNone/>
            </a:pPr>
            <a:r>
              <a:rPr lang="en-GB" dirty="0"/>
              <a:t>• Cross-validation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Evaluation:</a:t>
            </a:r>
          </a:p>
          <a:p>
            <a:pPr marL="0" indent="0">
              <a:buNone/>
            </a:pPr>
            <a:r>
              <a:rPr lang="en-GB" dirty="0"/>
              <a:t>• Accuracy</a:t>
            </a:r>
          </a:p>
          <a:p>
            <a:pPr marL="0" indent="0">
              <a:buNone/>
            </a:pPr>
            <a:r>
              <a:rPr lang="en-GB" dirty="0"/>
              <a:t>• Precision, Recall, F1-Score</a:t>
            </a:r>
          </a:p>
          <a:p>
            <a:pPr marL="0" indent="0">
              <a:buNone/>
            </a:pPr>
            <a:r>
              <a:rPr lang="en-GB" dirty="0"/>
              <a:t>• ROC-AUC Curve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0A3E0-50BC-AC90-EDBC-AA6DEBBC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8D183-293B-34CB-ECD1-E63D63CB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8</a:t>
            </a:fld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147E64-F3EC-55DF-5B99-B4E8E029E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568331"/>
            <a:ext cx="4235668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3292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477F03-3F1F-EBCC-9F07-7E6AF75F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68096-6856-571B-3064-512D7DFC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233BA-25A6-F8D8-32DE-AF19DBD9D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46" y="463181"/>
            <a:ext cx="8306717" cy="547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21057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EB4F-1454-AF10-5FF0-DBE1C80D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AD7A7-EBE4-971F-7CAF-14C3E00BB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Statistical summaries</a:t>
            </a:r>
          </a:p>
          <a:p>
            <a:pPr marL="0" indent="0">
              <a:buNone/>
            </a:pPr>
            <a:r>
              <a:rPr lang="en-US" dirty="0"/>
              <a:t>• Distribution of variables</a:t>
            </a:r>
          </a:p>
          <a:p>
            <a:pPr marL="0" indent="0">
              <a:buNone/>
            </a:pPr>
            <a:r>
              <a:rPr lang="en-US" dirty="0"/>
              <a:t>• Correlation heatmap</a:t>
            </a:r>
          </a:p>
          <a:p>
            <a:pPr marL="0" indent="0">
              <a:buNone/>
            </a:pPr>
            <a:r>
              <a:rPr lang="en-US" dirty="0"/>
              <a:t>• Visual relationships between features and outcome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76AF1-A356-C145-9DC0-CCEC987B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41B4C-5864-9214-C0F4-6EE8E91A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631819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E8D9-76F3-6A93-016F-99C02C7F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D5BE-2C6A-8675-CF8B-C0910322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3AB0B-2231-7B0A-3B7F-6AE241639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1FAF9-1EF5-6D75-CB27-982B5399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C841D-6E46-E592-E606-EA2A0487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A2395-9A56-A897-F717-3D8BB044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53" y="1825625"/>
            <a:ext cx="9710482" cy="420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00313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3370-5CAB-A371-DECE-0BD4C40A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9612A-0729-04A7-3386-E5951FE7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2A366-B470-47D6-D923-E86C233D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12</a:t>
            </a:fld>
            <a:endParaRPr lang="en-GB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6A1D75C-D516-5CF1-157E-D994D799AE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9" name="Content Placeholder 11" descr="A group of green and blue bars&#10;&#10;AI-generated content may be incorrect.">
            <a:extLst>
              <a:ext uri="{FF2B5EF4-FFF2-40B4-BE49-F238E27FC236}">
                <a16:creationId xmlns:a16="http://schemas.microsoft.com/office/drawing/2014/main" id="{DA1F0105-58BE-389E-21E8-96B37F61C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0075"/>
            <a:ext cx="5180219" cy="2967985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8CFA8A7-C876-0ED5-E0D0-51550B734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25625"/>
            <a:ext cx="5181600" cy="427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59694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7CFB9-9471-9A15-667C-949AD904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BD1F-D385-85EA-4E7C-DBEA482E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3F680-39E3-C4A9-968F-7D482151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5FEC0-56FD-D559-0982-33FC2A7D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3088D-F178-3015-90F4-0C4E6406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9B655A2C-A341-222A-DA5D-036A6CA84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84" y="1870075"/>
            <a:ext cx="10384316" cy="412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33879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088E-FA3E-7D2D-B86F-477F5B47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EBFE-4C88-37C3-9A14-91B6C278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FA82F-FC58-EF2B-D3B1-883997F5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29D2-C7F3-6C2E-32A1-59274739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14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C7E0C3-48F9-0594-2601-9D94100AA60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00" y="1944611"/>
            <a:ext cx="5676000" cy="325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9D8D18D-1722-50E1-F924-88D78984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5044"/>
            <a:ext cx="5687029" cy="325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905603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2E05-FC14-05BC-9BD6-8EAB868C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Machine Learning Models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87AAD-3497-37EE-355A-933E598C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491B9-00DF-BAF0-2CE8-76D2CB30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15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44FD0CC-9F83-1A15-7817-62DFDE518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34756"/>
            <a:ext cx="5223543" cy="427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7AF6DB2-DE22-4EF9-57D2-5B0F39AA2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259" y="1734756"/>
            <a:ext cx="5223543" cy="432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218420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9FC0-7CB2-CC16-0B1E-52B2C52E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3171-930B-812D-182F-6D178DE67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Accuracy – Overall correctness</a:t>
            </a:r>
          </a:p>
          <a:p>
            <a:pPr marL="0" indent="0">
              <a:buNone/>
            </a:pPr>
            <a:r>
              <a:rPr lang="en-US" dirty="0"/>
              <a:t>• Precision &amp; Recall – Class imbalance handling</a:t>
            </a:r>
          </a:p>
          <a:p>
            <a:pPr marL="0" indent="0">
              <a:buNone/>
            </a:pPr>
            <a:r>
              <a:rPr lang="en-US" dirty="0"/>
              <a:t>• Confusion Matrix – Performance visualization</a:t>
            </a:r>
          </a:p>
          <a:p>
            <a:pPr marL="0" indent="0">
              <a:buNone/>
            </a:pPr>
            <a:r>
              <a:rPr lang="en-US" dirty="0"/>
              <a:t>• ROC-AUC – Discrimination ability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6D4B5-CDBD-15A6-DC83-C74EFE39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62E54-3F62-404F-4AA0-CF4D4621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88868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D16E-75A6-9781-728B-81DFDEAC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246A-07BF-9B81-2088-17518495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Metrics…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87067-2064-9458-DADB-2A3B3B0F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9DA14-A9B7-36BA-4017-98850C9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ECF145-F1F8-6826-EF04-47B1A87B6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7" y="2167150"/>
            <a:ext cx="11333829" cy="307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07502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ADD3-DB5B-53EC-B3C5-D00332A0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Expected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FB5BF-CFF4-1ECE-7C6E-924F58D17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Improved predictive accuracy using ensemble models</a:t>
            </a:r>
          </a:p>
          <a:p>
            <a:pPr marL="0" indent="0">
              <a:buNone/>
            </a:pPr>
            <a:r>
              <a:rPr lang="en-US" dirty="0"/>
              <a:t>• Identification of critical risk variables</a:t>
            </a:r>
          </a:p>
          <a:p>
            <a:pPr marL="0" indent="0">
              <a:buNone/>
            </a:pPr>
            <a:r>
              <a:rPr lang="en-US" dirty="0"/>
              <a:t>• Model with highest ROC-AUC selected as final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5D28C-9F90-8883-35CB-304A0D4A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B22BA-CCE2-5773-16E3-1321E632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185588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5106-C3BE-62BE-EA82-24A51AD5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Significance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F642-AB40-FA93-F27B-FFED1C7D1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Supports early diagnostic decision-making</a:t>
            </a:r>
          </a:p>
          <a:p>
            <a:pPr marL="0" indent="0">
              <a:buNone/>
            </a:pPr>
            <a:r>
              <a:rPr lang="en-US" dirty="0"/>
              <a:t>• Helps clinicians identify high-risk patients</a:t>
            </a:r>
          </a:p>
          <a:p>
            <a:pPr marL="0" indent="0">
              <a:buNone/>
            </a:pPr>
            <a:r>
              <a:rPr lang="en-US" dirty="0"/>
              <a:t>• Contributes to medical AI research in cardiovascular health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D0FAA-827B-152B-7DB6-684B7610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40E94-B805-F901-1E26-8FEE3ABB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38921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972C-F010-873D-ABDF-E1452E1B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7EB4-0073-34A4-9203-CEACB2B8B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Machine learning can significantly enhance prediction of heart failure.</a:t>
            </a:r>
          </a:p>
          <a:p>
            <a:pPr marL="0" indent="0">
              <a:buNone/>
            </a:pPr>
            <a:r>
              <a:rPr lang="en-US" dirty="0"/>
              <a:t>• The project aims to build a robust predictive model for early detection.</a:t>
            </a:r>
          </a:p>
          <a:p>
            <a:pPr marL="0" indent="0">
              <a:buNone/>
            </a:pPr>
            <a:r>
              <a:rPr lang="en-US" dirty="0"/>
              <a:t>• Future extensions may include deployment as a mobile or web app.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2DE9A-76CF-599C-8226-09998DE6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49CD4-1CEE-415D-97A0-ACD4F623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95975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D3B1-FE67-0D7A-20D4-CDE4E22F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8B1CA-D202-6EDE-9CCC-172DCE1C5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• Kaggle, UCI Machine Learning Repository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7A00B-74A6-FFFE-2BC3-8EB594F3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73113-22E9-4337-9ECC-E35CE45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ECD93-A4B1-4FA8-A379-825ACA4C743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08936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</TotalTime>
  <Words>637</Words>
  <Application>Microsoft Office PowerPoint</Application>
  <PresentationFormat>Widescreen</PresentationFormat>
  <Paragraphs>121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Kristen ITC</vt:lpstr>
      <vt:lpstr>Segoe UI Black</vt:lpstr>
      <vt:lpstr>Office Theme</vt:lpstr>
      <vt:lpstr>Heart Failure Prediction Using Machine Learning</vt:lpstr>
      <vt:lpstr>Background / Introduction</vt:lpstr>
      <vt:lpstr>Problem Statement</vt:lpstr>
      <vt:lpstr>Aim of the Study</vt:lpstr>
      <vt:lpstr>Objectives</vt:lpstr>
      <vt:lpstr>Dataset Description</vt:lpstr>
      <vt:lpstr>DataSet Loading</vt:lpstr>
      <vt:lpstr>Methodology Overview</vt:lpstr>
      <vt:lpstr>PowerPoint Presentation</vt:lpstr>
      <vt:lpstr>Exploratory Data Analysis (EDA)</vt:lpstr>
      <vt:lpstr>Exploratory Data Analysis (EDA)…</vt:lpstr>
      <vt:lpstr>Exploratory Data Analysis (EDA)…</vt:lpstr>
      <vt:lpstr>Exploratory Data Analysis (EDA)…</vt:lpstr>
      <vt:lpstr>Exploratory Data Analysis (EDA)…</vt:lpstr>
      <vt:lpstr>Machine Learning Models</vt:lpstr>
      <vt:lpstr>Evaluation Metrics</vt:lpstr>
      <vt:lpstr>Evaluation Metrics…</vt:lpstr>
      <vt:lpstr>Expected Results</vt:lpstr>
      <vt:lpstr>Project Significance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chahyaandida ishaya</dc:creator>
  <cp:lastModifiedBy>chahyaandida ishaya</cp:lastModifiedBy>
  <cp:revision>35</cp:revision>
  <dcterms:created xsi:type="dcterms:W3CDTF">2025-12-12T06:35:07Z</dcterms:created>
  <dcterms:modified xsi:type="dcterms:W3CDTF">2025-12-14T20:20:49Z</dcterms:modified>
</cp:coreProperties>
</file>